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2" r:id="rId7"/>
    <p:sldId id="264" r:id="rId8"/>
    <p:sldId id="265" r:id="rId9"/>
    <p:sldId id="266" r:id="rId10"/>
    <p:sldId id="268" r:id="rId11"/>
    <p:sldId id="269" r:id="rId12"/>
    <p:sldId id="271" r:id="rId13"/>
    <p:sldId id="272" r:id="rId14"/>
    <p:sldId id="273" r:id="rId1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498"/>
    <p:restoredTop sz="94610"/>
  </p:normalViewPr>
  <p:slideViewPr>
    <p:cSldViewPr snapToGrid="0" snapToObjects="1">
      <p:cViewPr varScale="1">
        <p:scale>
          <a:sx n="160" d="100"/>
          <a:sy n="160" d="100"/>
        </p:scale>
        <p:origin x="176" y="3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527648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23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0080"/>
            <a:ext cx="838862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Question Bank Generation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755374" y="2468880"/>
            <a:ext cx="7315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Done by -:</a:t>
            </a:r>
          </a:p>
          <a:p>
            <a:pPr marL="0" indent="0">
              <a:spcAft>
                <a:spcPts val="60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Ansh – 2510030002</a:t>
            </a:r>
          </a:p>
          <a:p>
            <a:pPr marL="0" indent="0">
              <a:spcAft>
                <a:spcPts val="60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Ashritha - 2510030120</a:t>
            </a:r>
          </a:p>
          <a:p>
            <a:pPr marL="0" indent="0">
              <a:spcAft>
                <a:spcPts val="60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Akshitha - 2510030176</a:t>
            </a:r>
            <a:endParaRPr lang="en-US" sz="1600" dirty="0"/>
          </a:p>
          <a:p>
            <a:pPr marL="0" indent="0">
              <a:spcAft>
                <a:spcPts val="600"/>
              </a:spcAft>
              <a:buNone/>
            </a:pP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45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05840"/>
            <a:ext cx="2609088" cy="640080"/>
          </a:xfrm>
          <a:prstGeom prst="roundRect">
            <a:avLst>
              <a:gd name="adj" fmla="val 11429"/>
            </a:avLst>
          </a:prstGeom>
          <a:solidFill>
            <a:srgbClr val="2456D6"/>
          </a:solidFill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Material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3066288" y="1005840"/>
            <a:ext cx="2011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456D6"/>
                </a:solidFill>
              </a:rPr>
              <a:t>→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3267456" y="1005840"/>
            <a:ext cx="2609088" cy="640080"/>
          </a:xfrm>
          <a:prstGeom prst="roundRect">
            <a:avLst>
              <a:gd name="adj" fmla="val 11429"/>
            </a:avLst>
          </a:prstGeom>
          <a:solidFill>
            <a:srgbClr val="2456D6"/>
          </a:solidFill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Processing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876544" y="1005840"/>
            <a:ext cx="2011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456D6"/>
                </a:solidFill>
              </a:rPr>
              <a:t>→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6077712" y="1005840"/>
            <a:ext cx="2609088" cy="640080"/>
          </a:xfrm>
          <a:prstGeom prst="roundRect">
            <a:avLst>
              <a:gd name="adj" fmla="val 11429"/>
            </a:avLst>
          </a:prstGeom>
          <a:solidFill>
            <a:srgbClr val="2456D6"/>
          </a:solidFill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Bank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2011680"/>
            <a:ext cx="82296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question-bank creation is manual and time-consuming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Teachers must create, categorize, review and organize questions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methods can repeat questions and give uneven topic/difficulty coverage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 and Machine Learning can automate question generation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proposed system generates structured questions from educational content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45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05840"/>
            <a:ext cx="8229600" cy="1188720"/>
          </a:xfrm>
          <a:prstGeom prst="roundRect">
            <a:avLst>
              <a:gd name="adj" fmla="val 4615"/>
            </a:avLst>
          </a:prstGeom>
          <a:solidFill>
            <a:srgbClr val="FFF3D1"/>
          </a:solidFill>
          <a:ln/>
        </p:spPr>
        <p:txBody>
          <a:bodyPr wrap="square" lIns="127000" tIns="127000" rIns="127000" bIns="12700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“Manual question-bank creation requires significant time and effort and may result in repetitive questions, inconsistent difficulty levels, and incomplete syllabus/topic coverage.”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25146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E9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automated solution should generate questions based on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2971800"/>
            <a:ext cx="1536192" cy="822960"/>
          </a:xfrm>
          <a:prstGeom prst="roundRect">
            <a:avLst>
              <a:gd name="adj" fmla="val 8889"/>
            </a:avLst>
          </a:prstGeom>
          <a:solidFill>
            <a:srgbClr val="EAF0FB"/>
          </a:solidFill>
          <a:ln/>
        </p:spPr>
        <p:txBody>
          <a:bodyPr wrap="square" lIns="101600" tIns="101600" rIns="101600" bIns="10160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245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2130552" y="2971800"/>
            <a:ext cx="1536192" cy="822960"/>
          </a:xfrm>
          <a:prstGeom prst="roundRect">
            <a:avLst>
              <a:gd name="adj" fmla="val 8889"/>
            </a:avLst>
          </a:prstGeom>
          <a:solidFill>
            <a:srgbClr val="EAF0FB"/>
          </a:solidFill>
          <a:ln/>
        </p:spPr>
        <p:txBody>
          <a:bodyPr wrap="square" lIns="101600" tIns="101600" rIns="101600" bIns="10160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245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type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3803904" y="2971800"/>
            <a:ext cx="1536192" cy="822960"/>
          </a:xfrm>
          <a:prstGeom prst="roundRect">
            <a:avLst>
              <a:gd name="adj" fmla="val 8889"/>
            </a:avLst>
          </a:prstGeom>
          <a:solidFill>
            <a:srgbClr val="EAF0FB"/>
          </a:solidFill>
          <a:ln/>
        </p:spPr>
        <p:txBody>
          <a:bodyPr wrap="square" lIns="101600" tIns="101600" rIns="101600" bIns="10160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245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Difficulty level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5477256" y="2971800"/>
            <a:ext cx="1536192" cy="822960"/>
          </a:xfrm>
          <a:prstGeom prst="roundRect">
            <a:avLst>
              <a:gd name="adj" fmla="val 8889"/>
            </a:avLst>
          </a:prstGeom>
          <a:solidFill>
            <a:srgbClr val="EAF0FB"/>
          </a:solidFill>
          <a:ln/>
        </p:spPr>
        <p:txBody>
          <a:bodyPr wrap="square" lIns="101600" tIns="101600" rIns="101600" bIns="10160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245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material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7150608" y="2971800"/>
            <a:ext cx="1536192" cy="822960"/>
          </a:xfrm>
          <a:prstGeom prst="roundRect">
            <a:avLst>
              <a:gd name="adj" fmla="val 8889"/>
            </a:avLst>
          </a:prstGeom>
          <a:solidFill>
            <a:srgbClr val="EAF0FB"/>
          </a:solidFill>
          <a:ln/>
        </p:spPr>
        <p:txBody>
          <a:bodyPr wrap="square" lIns="101600" tIns="101600" rIns="101600" bIns="10160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245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 of questions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45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05840"/>
            <a:ext cx="2651760" cy="1097280"/>
          </a:xfrm>
          <a:prstGeom prst="roundRect">
            <a:avLst>
              <a:gd name="adj" fmla="val 6667"/>
            </a:avLst>
          </a:prstGeom>
          <a:solidFill>
            <a:srgbClr val="EAF0FB"/>
          </a:solidFill>
          <a:ln/>
        </p:spPr>
        <p:txBody>
          <a:bodyPr wrap="square" lIns="101600" tIns="101600" rIns="101600" bIns="10160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45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Generate from material</a:t>
            </a:r>
            <a:endParaRPr lang="en-US" sz="1300" dirty="0"/>
          </a:p>
          <a:p>
            <a:pPr marL="0" indent="0">
              <a:buNone/>
            </a:pPr>
            <a:r>
              <a:rPr lang="en-US" sz="1100" dirty="0">
                <a:solidFill>
                  <a:srgbClr val="55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Automatically generate questions from study material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3246120" y="1005840"/>
            <a:ext cx="2651760" cy="1097280"/>
          </a:xfrm>
          <a:prstGeom prst="roundRect">
            <a:avLst>
              <a:gd name="adj" fmla="val 6667"/>
            </a:avLst>
          </a:prstGeom>
          <a:solidFill>
            <a:srgbClr val="EAF0FB"/>
          </a:solidFill>
          <a:ln/>
        </p:spPr>
        <p:txBody>
          <a:bodyPr wrap="square" lIns="101600" tIns="101600" rIns="101600" bIns="10160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45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Save time</a:t>
            </a:r>
            <a:endParaRPr lang="en-US" sz="1300" dirty="0"/>
          </a:p>
          <a:p>
            <a:pPr marL="0" indent="0">
              <a:buNone/>
            </a:pPr>
            <a:r>
              <a:rPr lang="en-US" sz="1100" dirty="0">
                <a:solidFill>
                  <a:srgbClr val="55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question-bank preparation time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035040" y="1005840"/>
            <a:ext cx="2651760" cy="1097280"/>
          </a:xfrm>
          <a:prstGeom prst="roundRect">
            <a:avLst>
              <a:gd name="adj" fmla="val 6667"/>
            </a:avLst>
          </a:prstGeom>
          <a:solidFill>
            <a:srgbClr val="EAF0FB"/>
          </a:solidFill>
          <a:ln/>
        </p:spPr>
        <p:txBody>
          <a:bodyPr wrap="square" lIns="101600" tIns="101600" rIns="101600" bIns="10160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45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Difficulty levels</a:t>
            </a:r>
            <a:endParaRPr lang="en-US" sz="1300" dirty="0"/>
          </a:p>
          <a:p>
            <a:pPr marL="0" indent="0">
              <a:buNone/>
            </a:pPr>
            <a:r>
              <a:rPr lang="en-US" sz="1100" dirty="0">
                <a:solidFill>
                  <a:srgbClr val="55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multiple difficulty levels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2240280"/>
            <a:ext cx="2651760" cy="1097280"/>
          </a:xfrm>
          <a:prstGeom prst="roundRect">
            <a:avLst>
              <a:gd name="adj" fmla="val 6667"/>
            </a:avLst>
          </a:prstGeom>
          <a:solidFill>
            <a:srgbClr val="EAF0FB"/>
          </a:solidFill>
          <a:ln/>
        </p:spPr>
        <p:txBody>
          <a:bodyPr wrap="square" lIns="101600" tIns="101600" rIns="101600" bIns="10160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45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Question types</a:t>
            </a:r>
            <a:endParaRPr lang="en-US" sz="1300" dirty="0"/>
          </a:p>
          <a:p>
            <a:pPr marL="0" indent="0">
              <a:buNone/>
            </a:pPr>
            <a:r>
              <a:rPr lang="en-US" sz="1100" dirty="0">
                <a:solidFill>
                  <a:srgbClr val="55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MCQs, short-answer and long-answer questions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3246120" y="2240280"/>
            <a:ext cx="2651760" cy="1097280"/>
          </a:xfrm>
          <a:prstGeom prst="roundRect">
            <a:avLst>
              <a:gd name="adj" fmla="val 6667"/>
            </a:avLst>
          </a:prstGeom>
          <a:solidFill>
            <a:srgbClr val="EAF0FB"/>
          </a:solidFill>
          <a:ln/>
        </p:spPr>
        <p:txBody>
          <a:bodyPr wrap="square" lIns="101600" tIns="101600" rIns="101600" bIns="10160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45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Less repetition</a:t>
            </a:r>
            <a:endParaRPr lang="en-US" sz="1300" dirty="0"/>
          </a:p>
          <a:p>
            <a:pPr marL="0" indent="0">
              <a:buNone/>
            </a:pPr>
            <a:r>
              <a:rPr lang="en-US" sz="1100" dirty="0">
                <a:solidFill>
                  <a:srgbClr val="55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repetitive questions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6035040" y="2240280"/>
            <a:ext cx="2651760" cy="1097280"/>
          </a:xfrm>
          <a:prstGeom prst="roundRect">
            <a:avLst>
              <a:gd name="adj" fmla="val 6667"/>
            </a:avLst>
          </a:prstGeom>
          <a:solidFill>
            <a:srgbClr val="EAF0FB"/>
          </a:solidFill>
          <a:ln/>
        </p:spPr>
        <p:txBody>
          <a:bodyPr wrap="square" lIns="101600" tIns="101600" rIns="101600" bIns="10160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45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Coverage</a:t>
            </a:r>
            <a:endParaRPr lang="en-US" sz="1300" dirty="0"/>
          </a:p>
          <a:p>
            <a:pPr marL="0" indent="0">
              <a:buNone/>
            </a:pPr>
            <a:r>
              <a:rPr lang="en-US" sz="1100" dirty="0">
                <a:solidFill>
                  <a:srgbClr val="55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 topic coverage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3474720"/>
            <a:ext cx="2651760" cy="1097280"/>
          </a:xfrm>
          <a:prstGeom prst="roundRect">
            <a:avLst>
              <a:gd name="adj" fmla="val 6667"/>
            </a:avLst>
          </a:prstGeom>
          <a:solidFill>
            <a:srgbClr val="EAF0FB"/>
          </a:solidFill>
          <a:ln/>
        </p:spPr>
        <p:txBody>
          <a:bodyPr wrap="square" lIns="101600" tIns="101600" rIns="101600" bIns="10160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45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Teacher control</a:t>
            </a:r>
            <a:endParaRPr lang="en-US" sz="1300" dirty="0"/>
          </a:p>
          <a:p>
            <a:pPr marL="0" indent="0">
              <a:buNone/>
            </a:pPr>
            <a:r>
              <a:rPr lang="en-US" sz="1100" dirty="0">
                <a:solidFill>
                  <a:srgbClr val="55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 teachers to review and edit generated questions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45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Review</a:t>
            </a:r>
            <a:endParaRPr lang="en-US" sz="26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14400"/>
          <a:ext cx="8229600" cy="1828800"/>
        </p:xfrm>
        <a:graphic>
          <a:graphicData uri="http://schemas.openxmlformats.org/drawingml/2006/table">
            <a:tbl>
              <a:tblPr/>
              <a:tblGrid>
                <a:gridCol w="2560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Approach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8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56D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Strength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8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56D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Limitation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8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56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4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Manual Question Generation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8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4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Human judgment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8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4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Time-consuming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8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4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Template-Based Systems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8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4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Easy to implement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8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4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Limited question variety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8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4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NLP-Based Systems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8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4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Understand textual content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8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4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May produce contextually incorrect questions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8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4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Transformer-Based Systems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8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4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Strong language understanding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8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4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Higher computational requirements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8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4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LLM-Based Systems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8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4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Flexible and diverse generation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8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4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Require validation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8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457200" y="4023360"/>
            <a:ext cx="8229600" cy="731520"/>
          </a:xfrm>
          <a:prstGeom prst="roundRect">
            <a:avLst>
              <a:gd name="adj" fmla="val 7500"/>
            </a:avLst>
          </a:prstGeom>
          <a:solidFill>
            <a:srgbClr val="FFF3D1"/>
          </a:solidFill>
          <a:ln/>
        </p:spPr>
        <p:txBody>
          <a:bodyPr wrap="square" lIns="127000" tIns="127000" rIns="127000" bIns="12700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Gap: Existing systems often provide limited control over difficulty, topic coverage, question type, and quality validation.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45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1371600" y="914400"/>
            <a:ext cx="6400800" cy="365760"/>
          </a:xfrm>
          <a:prstGeom prst="roundRect">
            <a:avLst>
              <a:gd name="adj" fmla="val 15000"/>
            </a:avLst>
          </a:prstGeom>
          <a:solidFill>
            <a:srgbClr val="2456D6"/>
          </a:solidFill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Material</a:t>
            </a: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PDF / TXT / User Input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1371600" y="1280160"/>
            <a:ext cx="6400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456D6"/>
                </a:solidFill>
              </a:rPr>
              <a:t>↓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371600" y="1426464"/>
            <a:ext cx="6400800" cy="365760"/>
          </a:xfrm>
          <a:prstGeom prst="roundRect">
            <a:avLst>
              <a:gd name="adj" fmla="val 15000"/>
            </a:avLst>
          </a:prstGeom>
          <a:solidFill>
            <a:srgbClr val="2456D6"/>
          </a:solidFill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Module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371600" y="1792224"/>
            <a:ext cx="6400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456D6"/>
                </a:solidFill>
              </a:rPr>
              <a:t>↓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1371600" y="1938528"/>
            <a:ext cx="6400800" cy="365760"/>
          </a:xfrm>
          <a:prstGeom prst="roundRect">
            <a:avLst>
              <a:gd name="adj" fmla="val 15000"/>
            </a:avLst>
          </a:prstGeom>
          <a:solidFill>
            <a:srgbClr val="2456D6"/>
          </a:solidFill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Preprocessing</a:t>
            </a: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Cleaning + Tokenization + Sentence Segmentation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1371600" y="2304288"/>
            <a:ext cx="6400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456D6"/>
                </a:solidFill>
              </a:rPr>
              <a:t>↓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1371600" y="2450592"/>
            <a:ext cx="6400800" cy="365760"/>
          </a:xfrm>
          <a:prstGeom prst="roundRect">
            <a:avLst>
              <a:gd name="adj" fmla="val 15000"/>
            </a:avLst>
          </a:prstGeom>
          <a:solidFill>
            <a:srgbClr val="2456D6"/>
          </a:solidFill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Concept Extraction</a:t>
            </a: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Keywords + Topics + Entities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1371600" y="2816352"/>
            <a:ext cx="6400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456D6"/>
                </a:solidFill>
              </a:rPr>
              <a:t>↓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1371600" y="2962656"/>
            <a:ext cx="6400800" cy="365760"/>
          </a:xfrm>
          <a:prstGeom prst="roundRect">
            <a:avLst>
              <a:gd name="adj" fmla="val 15000"/>
            </a:avLst>
          </a:prstGeom>
          <a:solidFill>
            <a:srgbClr val="2456D6"/>
          </a:solidFill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Generation Engine</a:t>
            </a: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NLP / Transformer Model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1371600" y="3328416"/>
            <a:ext cx="6400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456D6"/>
                </a:solidFill>
              </a:rPr>
              <a:t>↓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1371600" y="3474720"/>
            <a:ext cx="6400800" cy="365760"/>
          </a:xfrm>
          <a:prstGeom prst="roundRect">
            <a:avLst>
              <a:gd name="adj" fmla="val 15000"/>
            </a:avLst>
          </a:prstGeom>
          <a:solidFill>
            <a:srgbClr val="2456D6"/>
          </a:solidFill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</a:t>
            </a: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Question Type + Difficulty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1371600" y="3840480"/>
            <a:ext cx="6400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456D6"/>
                </a:solidFill>
              </a:rPr>
              <a:t>↓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1371600" y="3986784"/>
            <a:ext cx="6400800" cy="365760"/>
          </a:xfrm>
          <a:prstGeom prst="roundRect">
            <a:avLst>
              <a:gd name="adj" fmla="val 15000"/>
            </a:avLst>
          </a:prstGeom>
          <a:solidFill>
            <a:srgbClr val="2456D6"/>
          </a:solidFill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Relevance + Grammar + Duplicate Detection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1371600" y="4352544"/>
            <a:ext cx="6400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456D6"/>
                </a:solidFill>
              </a:rPr>
              <a:t>↓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1371600" y="4498848"/>
            <a:ext cx="6400800" cy="365760"/>
          </a:xfrm>
          <a:prstGeom prst="roundRect">
            <a:avLst>
              <a:gd name="adj" fmla="val 15000"/>
            </a:avLst>
          </a:prstGeom>
          <a:solidFill>
            <a:srgbClr val="0E9F8E"/>
          </a:solidFill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Bank</a:t>
            </a: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Database / User Interface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45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97280"/>
            <a:ext cx="1954530" cy="1463040"/>
          </a:xfrm>
          <a:prstGeom prst="roundRect">
            <a:avLst>
              <a:gd name="adj" fmla="val 5000"/>
            </a:avLst>
          </a:prstGeom>
          <a:solidFill>
            <a:srgbClr val="EAF0FB"/>
          </a:solidFill>
          <a:ln/>
        </p:spPr>
        <p:txBody>
          <a:bodyPr wrap="square" lIns="101600" tIns="101600" rIns="101600" bIns="10160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45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Input Collection</a:t>
            </a:r>
            <a:endParaRPr lang="en-US" sz="1300" dirty="0"/>
          </a:p>
          <a:p>
            <a:pPr marL="0" indent="0">
              <a:buNone/>
            </a:pPr>
            <a:r>
              <a:rPr lang="en-US" sz="1100" dirty="0">
                <a:solidFill>
                  <a:srgbClr val="55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 PDF/TXT or typed content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2548890" y="1097280"/>
            <a:ext cx="1954530" cy="1463040"/>
          </a:xfrm>
          <a:prstGeom prst="roundRect">
            <a:avLst>
              <a:gd name="adj" fmla="val 5000"/>
            </a:avLst>
          </a:prstGeom>
          <a:solidFill>
            <a:srgbClr val="EAF0FB"/>
          </a:solidFill>
          <a:ln/>
        </p:spPr>
        <p:txBody>
          <a:bodyPr wrap="square" lIns="101600" tIns="101600" rIns="101600" bIns="10160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45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Text Preprocessing</a:t>
            </a:r>
            <a:endParaRPr lang="en-US" sz="1300" dirty="0"/>
          </a:p>
          <a:p>
            <a:pPr marL="0" indent="0">
              <a:buNone/>
            </a:pPr>
            <a:r>
              <a:rPr lang="en-US" sz="1100" dirty="0">
                <a:solidFill>
                  <a:srgbClr val="55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text, tokenize, segment sentences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4640580" y="1097280"/>
            <a:ext cx="1954530" cy="1463040"/>
          </a:xfrm>
          <a:prstGeom prst="roundRect">
            <a:avLst>
              <a:gd name="adj" fmla="val 5000"/>
            </a:avLst>
          </a:prstGeom>
          <a:solidFill>
            <a:srgbClr val="EAF0FB"/>
          </a:solidFill>
          <a:ln/>
        </p:spPr>
        <p:txBody>
          <a:bodyPr wrap="square" lIns="101600" tIns="101600" rIns="101600" bIns="10160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45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Key Concept Extraction</a:t>
            </a:r>
            <a:endParaRPr lang="en-US" sz="1300" dirty="0"/>
          </a:p>
          <a:p>
            <a:pPr marL="0" indent="0">
              <a:buNone/>
            </a:pPr>
            <a:r>
              <a:rPr lang="en-US" sz="1100" dirty="0">
                <a:solidFill>
                  <a:srgbClr val="55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keywords, topics, entities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6732270" y="1097280"/>
            <a:ext cx="1954530" cy="1463040"/>
          </a:xfrm>
          <a:prstGeom prst="roundRect">
            <a:avLst>
              <a:gd name="adj" fmla="val 5000"/>
            </a:avLst>
          </a:prstGeom>
          <a:solidFill>
            <a:srgbClr val="EAF0FB"/>
          </a:solidFill>
          <a:ln/>
        </p:spPr>
        <p:txBody>
          <a:bodyPr wrap="square" lIns="101600" tIns="101600" rIns="101600" bIns="10160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45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Question Generation</a:t>
            </a:r>
            <a:endParaRPr lang="en-US" sz="1300" dirty="0"/>
          </a:p>
          <a:p>
            <a:pPr marL="0" indent="0">
              <a:buNone/>
            </a:pPr>
            <a:r>
              <a:rPr lang="en-US" sz="1100" dirty="0">
                <a:solidFill>
                  <a:srgbClr val="55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questions with NLP/Transformer models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2697480"/>
            <a:ext cx="1954530" cy="1463040"/>
          </a:xfrm>
          <a:prstGeom prst="roundRect">
            <a:avLst>
              <a:gd name="adj" fmla="val 5000"/>
            </a:avLst>
          </a:prstGeom>
          <a:solidFill>
            <a:srgbClr val="EAF0FB"/>
          </a:solidFill>
          <a:ln/>
        </p:spPr>
        <p:txBody>
          <a:bodyPr wrap="square" lIns="101600" tIns="101600" rIns="101600" bIns="10160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45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Question Classification</a:t>
            </a:r>
            <a:endParaRPr lang="en-US" sz="1300" dirty="0"/>
          </a:p>
          <a:p>
            <a:pPr marL="0" indent="0">
              <a:buNone/>
            </a:pPr>
            <a:r>
              <a:rPr lang="en-US" sz="1100" dirty="0">
                <a:solidFill>
                  <a:srgbClr val="55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 type and difficulty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2548890" y="2697480"/>
            <a:ext cx="1954530" cy="1463040"/>
          </a:xfrm>
          <a:prstGeom prst="roundRect">
            <a:avLst>
              <a:gd name="adj" fmla="val 5000"/>
            </a:avLst>
          </a:prstGeom>
          <a:solidFill>
            <a:srgbClr val="EAF0FB"/>
          </a:solidFill>
          <a:ln/>
        </p:spPr>
        <p:txBody>
          <a:bodyPr wrap="square" lIns="101600" tIns="101600" rIns="101600" bIns="10160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45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Quality Validation</a:t>
            </a:r>
            <a:endParaRPr lang="en-US" sz="1300" dirty="0"/>
          </a:p>
          <a:p>
            <a:pPr marL="0" indent="0">
              <a:buNone/>
            </a:pPr>
            <a:r>
              <a:rPr lang="en-US" sz="1100" dirty="0">
                <a:solidFill>
                  <a:srgbClr val="55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relevance, grammar, duplicates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4640580" y="2697480"/>
            <a:ext cx="1954530" cy="1463040"/>
          </a:xfrm>
          <a:prstGeom prst="roundRect">
            <a:avLst>
              <a:gd name="adj" fmla="val 5000"/>
            </a:avLst>
          </a:prstGeom>
          <a:solidFill>
            <a:srgbClr val="EAF0FB"/>
          </a:solidFill>
          <a:ln/>
        </p:spPr>
        <p:txBody>
          <a:bodyPr wrap="square" lIns="101600" tIns="101600" rIns="101600" bIns="10160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45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Question Storage</a:t>
            </a:r>
            <a:endParaRPr lang="en-US" sz="1300" dirty="0"/>
          </a:p>
          <a:p>
            <a:pPr marL="0" indent="0">
              <a:buNone/>
            </a:pPr>
            <a:r>
              <a:rPr lang="en-US" sz="1100" dirty="0">
                <a:solidFill>
                  <a:srgbClr val="55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questions in database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6732270" y="2697480"/>
            <a:ext cx="1954530" cy="1463040"/>
          </a:xfrm>
          <a:prstGeom prst="roundRect">
            <a:avLst>
              <a:gd name="adj" fmla="val 5000"/>
            </a:avLst>
          </a:prstGeom>
          <a:solidFill>
            <a:srgbClr val="EAF0FB"/>
          </a:solidFill>
          <a:ln/>
        </p:spPr>
        <p:txBody>
          <a:bodyPr wrap="square" lIns="101600" tIns="101600" rIns="101600" bIns="10160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45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Final Output</a:t>
            </a:r>
            <a:endParaRPr lang="en-US" sz="1300" dirty="0"/>
          </a:p>
          <a:p>
            <a:pPr marL="0" indent="0">
              <a:buNone/>
            </a:pPr>
            <a:r>
              <a:rPr lang="en-US" sz="1100" dirty="0">
                <a:solidFill>
                  <a:srgbClr val="55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Display, review, edit, export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45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Algorithms and Techniques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05840"/>
            <a:ext cx="2651760" cy="1737360"/>
          </a:xfrm>
          <a:prstGeom prst="roundRect">
            <a:avLst>
              <a:gd name="adj" fmla="val 4211"/>
            </a:avLst>
          </a:prstGeom>
          <a:solidFill>
            <a:srgbClr val="EAF0FB"/>
          </a:solidFill>
          <a:ln/>
        </p:spPr>
        <p:txBody>
          <a:bodyPr wrap="square" lIns="101600" tIns="101600" rIns="101600" bIns="10160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245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rgbClr val="55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Tokenization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rgbClr val="55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Sentence segmentation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rgbClr val="55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 extraction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rgbClr val="55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preprocessing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3246120" y="1005840"/>
            <a:ext cx="2651760" cy="1737360"/>
          </a:xfrm>
          <a:prstGeom prst="roundRect">
            <a:avLst>
              <a:gd name="adj" fmla="val 4211"/>
            </a:avLst>
          </a:prstGeom>
          <a:solidFill>
            <a:srgbClr val="EAF0FB"/>
          </a:solidFill>
          <a:ln/>
        </p:spPr>
        <p:txBody>
          <a:bodyPr wrap="square" lIns="101600" tIns="101600" rIns="101600" bIns="10160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245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/ Deep Learning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rgbClr val="55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Transformer-based language models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rgbClr val="55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classification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rgbClr val="55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similarity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6035040" y="1005840"/>
            <a:ext cx="2651760" cy="1737360"/>
          </a:xfrm>
          <a:prstGeom prst="roundRect">
            <a:avLst>
              <a:gd name="adj" fmla="val 4211"/>
            </a:avLst>
          </a:prstGeom>
          <a:solidFill>
            <a:srgbClr val="EAF0FB"/>
          </a:solidFill>
          <a:ln/>
        </p:spPr>
        <p:txBody>
          <a:bodyPr wrap="square" lIns="101600" tIns="101600" rIns="101600" bIns="10160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245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Validation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rgbClr val="55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Similarity-based duplicate detection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rgbClr val="55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Relevance checking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rgbClr val="55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Grammar/quality validation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3200400"/>
            <a:ext cx="1484986" cy="822960"/>
          </a:xfrm>
          <a:prstGeom prst="roundRect">
            <a:avLst>
              <a:gd name="adj" fmla="val 8889"/>
            </a:avLst>
          </a:prstGeom>
          <a:solidFill>
            <a:srgbClr val="2456D6"/>
          </a:solidFill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 Features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1942186" y="3200400"/>
            <a:ext cx="2011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456D6"/>
                </a:solidFill>
              </a:rPr>
              <a:t>→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2143354" y="3200400"/>
            <a:ext cx="1484986" cy="822960"/>
          </a:xfrm>
          <a:prstGeom prst="roundRect">
            <a:avLst>
              <a:gd name="adj" fmla="val 8889"/>
            </a:avLst>
          </a:prstGeom>
          <a:solidFill>
            <a:srgbClr val="2456D6"/>
          </a:solidFill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 Model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3628339" y="3200400"/>
            <a:ext cx="2011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456D6"/>
                </a:solidFill>
              </a:rPr>
              <a:t>→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3829507" y="3200400"/>
            <a:ext cx="1484986" cy="822960"/>
          </a:xfrm>
          <a:prstGeom prst="roundRect">
            <a:avLst>
              <a:gd name="adj" fmla="val 8889"/>
            </a:avLst>
          </a:prstGeom>
          <a:solidFill>
            <a:srgbClr val="2456D6"/>
          </a:solidFill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Classifier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5314493" y="3200400"/>
            <a:ext cx="2011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456D6"/>
                </a:solidFill>
              </a:rPr>
              <a:t>→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5515661" y="3200400"/>
            <a:ext cx="1484986" cy="822960"/>
          </a:xfrm>
          <a:prstGeom prst="roundRect">
            <a:avLst>
              <a:gd name="adj" fmla="val 8889"/>
            </a:avLst>
          </a:prstGeom>
          <a:solidFill>
            <a:srgbClr val="2456D6"/>
          </a:solidFill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Similarity &amp; Quality Checks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7000646" y="3200400"/>
            <a:ext cx="2011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456D6"/>
                </a:solidFill>
              </a:rPr>
              <a:t>→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7201814" y="3200400"/>
            <a:ext cx="1484986" cy="822960"/>
          </a:xfrm>
          <a:prstGeom prst="roundRect">
            <a:avLst>
              <a:gd name="adj" fmla="val 8889"/>
            </a:avLst>
          </a:prstGeom>
          <a:solidFill>
            <a:srgbClr val="2456D6"/>
          </a:solidFill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 Questions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45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05840"/>
            <a:ext cx="2651760" cy="1463040"/>
          </a:xfrm>
          <a:prstGeom prst="roundRect">
            <a:avLst>
              <a:gd name="adj" fmla="val 5000"/>
            </a:avLst>
          </a:prstGeom>
          <a:solidFill>
            <a:srgbClr val="EAF0FB"/>
          </a:solidFill>
          <a:ln/>
        </p:spPr>
        <p:txBody>
          <a:bodyPr wrap="square" lIns="101600" tIns="101600" rIns="101600" bIns="10160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245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Programming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rgbClr val="55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Python, HTML, CSS, JavaScript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3246120" y="1005840"/>
            <a:ext cx="2651760" cy="1463040"/>
          </a:xfrm>
          <a:prstGeom prst="roundRect">
            <a:avLst>
              <a:gd name="adj" fmla="val 5000"/>
            </a:avLst>
          </a:prstGeom>
          <a:solidFill>
            <a:srgbClr val="EAF0FB"/>
          </a:solidFill>
          <a:ln/>
        </p:spPr>
        <p:txBody>
          <a:bodyPr wrap="square" lIns="101600" tIns="101600" rIns="101600" bIns="10160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245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Frameworks / Libraries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rgbClr val="55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Transformers, PyTorch / TensorFlow, NLTK / spaCy, Flask / FastAPI / Streamlit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6035040" y="1005840"/>
            <a:ext cx="2651760" cy="1463040"/>
          </a:xfrm>
          <a:prstGeom prst="roundRect">
            <a:avLst>
              <a:gd name="adj" fmla="val 5000"/>
            </a:avLst>
          </a:prstGeom>
          <a:solidFill>
            <a:srgbClr val="EAF0FB"/>
          </a:solidFill>
          <a:ln/>
        </p:spPr>
        <p:txBody>
          <a:bodyPr wrap="square" lIns="101600" tIns="101600" rIns="101600" bIns="10160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245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rgbClr val="55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/ MySQL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2606040"/>
            <a:ext cx="2651760" cy="1463040"/>
          </a:xfrm>
          <a:prstGeom prst="roundRect">
            <a:avLst>
              <a:gd name="adj" fmla="val 5000"/>
            </a:avLst>
          </a:prstGeom>
          <a:solidFill>
            <a:srgbClr val="EAF0FB"/>
          </a:solidFill>
          <a:ln/>
        </p:spPr>
        <p:txBody>
          <a:bodyPr wrap="square" lIns="101600" tIns="101600" rIns="101600" bIns="10160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245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rgbClr val="55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Code, Jupyter Notebook, Git &amp; GitHub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3246120" y="2606040"/>
            <a:ext cx="2651760" cy="1463040"/>
          </a:xfrm>
          <a:prstGeom prst="roundRect">
            <a:avLst>
              <a:gd name="adj" fmla="val 5000"/>
            </a:avLst>
          </a:prstGeom>
          <a:solidFill>
            <a:srgbClr val="EAF0FB"/>
          </a:solidFill>
          <a:ln/>
        </p:spPr>
        <p:txBody>
          <a:bodyPr wrap="square" lIns="101600" tIns="101600" rIns="101600" bIns="10160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245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rgbClr val="55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Laptop/Desktop, minimum 8 GB RAM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45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Process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14400"/>
            <a:ext cx="1906524" cy="640080"/>
          </a:xfrm>
          <a:prstGeom prst="roundRect">
            <a:avLst>
              <a:gd name="adj" fmla="val 11429"/>
            </a:avLst>
          </a:prstGeom>
          <a:solidFill>
            <a:srgbClr val="2456D6"/>
          </a:solidFill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Study Material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2363724" y="914400"/>
            <a:ext cx="2011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456D6"/>
                </a:solidFill>
              </a:rPr>
              <a:t>→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2564892" y="914400"/>
            <a:ext cx="1906524" cy="640080"/>
          </a:xfrm>
          <a:prstGeom prst="roundRect">
            <a:avLst>
              <a:gd name="adj" fmla="val 11429"/>
            </a:avLst>
          </a:prstGeom>
          <a:solidFill>
            <a:srgbClr val="2456D6"/>
          </a:solidFill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Text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4471416" y="914400"/>
            <a:ext cx="2011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456D6"/>
                </a:solidFill>
              </a:rPr>
              <a:t>→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4672584" y="914400"/>
            <a:ext cx="1906524" cy="640080"/>
          </a:xfrm>
          <a:prstGeom prst="roundRect">
            <a:avLst>
              <a:gd name="adj" fmla="val 11429"/>
            </a:avLst>
          </a:prstGeom>
          <a:solidFill>
            <a:srgbClr val="2456D6"/>
          </a:solidFill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 Content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6579108" y="914400"/>
            <a:ext cx="2011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456D6"/>
                </a:solidFill>
              </a:rPr>
              <a:t>→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6780276" y="914400"/>
            <a:ext cx="1906524" cy="640080"/>
          </a:xfrm>
          <a:prstGeom prst="roundRect">
            <a:avLst>
              <a:gd name="adj" fmla="val 11429"/>
            </a:avLst>
          </a:prstGeom>
          <a:solidFill>
            <a:srgbClr val="2456D6"/>
          </a:solidFill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Concepts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1783080"/>
            <a:ext cx="1906524" cy="640080"/>
          </a:xfrm>
          <a:prstGeom prst="roundRect">
            <a:avLst>
              <a:gd name="adj" fmla="val 11429"/>
            </a:avLst>
          </a:prstGeom>
          <a:solidFill>
            <a:srgbClr val="0E9F8E"/>
          </a:solidFill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Questions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2363724" y="1783080"/>
            <a:ext cx="2011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456D6"/>
                </a:solidFill>
              </a:rPr>
              <a:t>→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2564892" y="1783080"/>
            <a:ext cx="1906524" cy="640080"/>
          </a:xfrm>
          <a:prstGeom prst="roundRect">
            <a:avLst>
              <a:gd name="adj" fmla="val 11429"/>
            </a:avLst>
          </a:prstGeom>
          <a:solidFill>
            <a:srgbClr val="0E9F8E"/>
          </a:solidFill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 Difficulty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4471416" y="1783080"/>
            <a:ext cx="2011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456D6"/>
                </a:solidFill>
              </a:rPr>
              <a:t>→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4672584" y="1783080"/>
            <a:ext cx="1906524" cy="640080"/>
          </a:xfrm>
          <a:prstGeom prst="roundRect">
            <a:avLst>
              <a:gd name="adj" fmla="val 11429"/>
            </a:avLst>
          </a:prstGeom>
          <a:solidFill>
            <a:srgbClr val="0E9F8E"/>
          </a:solidFill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Duplicates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6579108" y="1783080"/>
            <a:ext cx="2011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456D6"/>
                </a:solidFill>
              </a:rPr>
              <a:t>→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6780276" y="1783080"/>
            <a:ext cx="1906524" cy="640080"/>
          </a:xfrm>
          <a:prstGeom prst="roundRect">
            <a:avLst>
              <a:gd name="adj" fmla="val 11429"/>
            </a:avLst>
          </a:prstGeom>
          <a:solidFill>
            <a:srgbClr val="0E9F8E"/>
          </a:solidFill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 Question Bank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457200" y="2743200"/>
            <a:ext cx="8229600" cy="1920240"/>
          </a:xfrm>
          <a:prstGeom prst="roundRect">
            <a:avLst>
              <a:gd name="adj" fmla="val 3810"/>
            </a:avLst>
          </a:prstGeom>
          <a:solidFill>
            <a:srgbClr val="EAF0FB"/>
          </a:solidFill>
          <a:ln/>
        </p:spPr>
        <p:txBody>
          <a:bodyPr wrap="square" lIns="152400" tIns="152400" rIns="152400" bIns="15240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245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example</a:t>
            </a:r>
            <a:endParaRPr lang="en-US" sz="14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200" i="1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concept: “Photosynthesis is the process by which green plants convert light energy into chemical energy.”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Easy: What is photosynthesis?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Medium: What role does sunlight play in photosynthesis?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Hard: Explain how photosynthesis converts light energy into chemical energy.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45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26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257175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E9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Observations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40233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3D61792-FDF3-BE7C-8FC2-0AE631289994}"/>
              </a:ext>
            </a:extLst>
          </p:cNvPr>
          <p:cNvSpPr txBox="1"/>
          <p:nvPr/>
        </p:nvSpPr>
        <p:spPr>
          <a:xfrm>
            <a:off x="352595" y="842337"/>
            <a:ext cx="8524962" cy="178510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/>
            <a:r>
              <a:rPr lang="en-US" sz="1400" dirty="0"/>
              <a:t>1.) The system successfully generates questions automatically from the provided study material.</a:t>
            </a:r>
          </a:p>
          <a:p>
            <a:pPr lvl="0"/>
            <a:r>
              <a:rPr lang="en-US" sz="1400" dirty="0"/>
              <a:t>2.) Questions can be generated in different formats such as </a:t>
            </a:r>
            <a:r>
              <a:rPr lang="en-US" sz="1400" b="1" dirty="0"/>
              <a:t>MCQs, short-answer, and long-answer questions</a:t>
            </a:r>
            <a:r>
              <a:rPr lang="en-US" sz="1400" dirty="0"/>
              <a:t>.</a:t>
            </a:r>
          </a:p>
          <a:p>
            <a:pPr lvl="0"/>
            <a:r>
              <a:rPr lang="en-US" sz="1400" dirty="0"/>
              <a:t>3.) Generated questions can be categorized into </a:t>
            </a:r>
            <a:r>
              <a:rPr lang="en-US" sz="1400" b="1" dirty="0"/>
              <a:t>Easy, Medium, and Hard</a:t>
            </a:r>
            <a:r>
              <a:rPr lang="en-US" sz="1400" dirty="0"/>
              <a:t> difficulty levels.</a:t>
            </a:r>
          </a:p>
          <a:p>
            <a:pPr lvl="0"/>
            <a:r>
              <a:rPr lang="en-US" sz="1400" dirty="0"/>
              <a:t>4.) The system identifies important concepts from the input content and uses them to create relevant questions.</a:t>
            </a:r>
          </a:p>
          <a:p>
            <a:pPr lvl="0"/>
            <a:r>
              <a:rPr lang="en-US" sz="1400" dirty="0"/>
              <a:t>5.) Duplicate or highly similar questions can be detected and removed using </a:t>
            </a:r>
            <a:r>
              <a:rPr lang="en-US" sz="1400" b="1" dirty="0"/>
              <a:t>text-similarity techniques</a:t>
            </a:r>
            <a:r>
              <a:rPr lang="en-US" sz="1400" dirty="0"/>
              <a:t>.</a:t>
            </a:r>
          </a:p>
          <a:p>
            <a:pPr lvl="0"/>
            <a:r>
              <a:rPr lang="en-US" sz="1400" dirty="0"/>
              <a:t>6.) The automated approach significantly </a:t>
            </a:r>
            <a:r>
              <a:rPr lang="en-US" sz="1400" b="1" dirty="0"/>
              <a:t>reduces the time and manual effort</a:t>
            </a:r>
            <a:r>
              <a:rPr lang="en-US" sz="1400" dirty="0"/>
              <a:t> required to prepare a question bank.</a:t>
            </a:r>
          </a:p>
          <a:p>
            <a:pPr lvl="0"/>
            <a:r>
              <a:rPr lang="en-US" sz="1400" dirty="0"/>
              <a:t>7.) The generated questions can be reviewed, edited, and organized before being used for assessments.</a:t>
            </a:r>
          </a:p>
          <a:p>
            <a:endParaRPr lang="en-US" sz="12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5DDE197-CD00-583B-8F94-043E7F1ED420}"/>
              </a:ext>
            </a:extLst>
          </p:cNvPr>
          <p:cNvSpPr txBox="1"/>
          <p:nvPr/>
        </p:nvSpPr>
        <p:spPr>
          <a:xfrm>
            <a:off x="457200" y="3112680"/>
            <a:ext cx="6908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Input Material → Concept Extraction → Question Generation → Classification → Validation → Final Question Bank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45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Advantages &amp; Applications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0584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E9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Advantages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417320"/>
            <a:ext cx="39319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Saves time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Reduces manual effort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 large question banks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Supports multiple question types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Provides difficulty classification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Reduces repetition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Improves topic coverage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4754880" y="100584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E9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Applications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4754880" y="1417320"/>
            <a:ext cx="39319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Schools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Colleges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Universities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Coaching institutes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E-learning platforms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quiz systems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Management Systems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45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 &amp; Future Enhancements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0584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E9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417320"/>
            <a:ext cx="39319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Poor-quality input text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Repetitive questions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Contextually incorrect questions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Difficulty classification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Computational requirements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4754880" y="100584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E9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Enhancements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4754880" y="1417320"/>
            <a:ext cx="39319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Multilingual question generation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integration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question generation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Bloom’s Taxonomy classification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answer generation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Image/diagram-based questions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Personalized question banks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question-paper generation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45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References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14400"/>
            <a:ext cx="8229600" cy="914400"/>
          </a:xfrm>
          <a:prstGeom prst="roundRect">
            <a:avLst>
              <a:gd name="adj" fmla="val 6000"/>
            </a:avLst>
          </a:prstGeom>
          <a:solidFill>
            <a:srgbClr val="FFF3D1"/>
          </a:solidFill>
          <a:ln/>
        </p:spPr>
        <p:txBody>
          <a:bodyPr wrap="square" lIns="127000" tIns="127000" rIns="127000" bIns="12700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proposed system uses NLP and AI techniques to automate question-bank creation, reduce manual effort, support different question types and difficulty levels, and provide a scalable solution for educational assessment.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2011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E9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2377440"/>
            <a:ext cx="82296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Vaswani et al., “Attention Is All You Need,” NeurIPS, 2017.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Devlin et al., “BERT: Pre-training of Deep Bidirectional Transformers for Language Understanding,” 2019.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Lewis et al., “Retrieval-Augmented Generation for Knowledge-Intensive NLP Tasks,” NeurIPS, 2020.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Jurafsky &amp; Martin, “Speech and Language Processing.”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Bird, Klein &amp; Loper, “Natural Language Processing with Python.”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Hugging Face Transformers Documentation.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PyTorch Documentation.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NLTK Documentation.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931</Words>
  <Application>Microsoft Macintosh PowerPoint</Application>
  <PresentationFormat>On-screen Show (16:9)</PresentationFormat>
  <Paragraphs>214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Ansh .</cp:lastModifiedBy>
  <cp:revision>5</cp:revision>
  <dcterms:created xsi:type="dcterms:W3CDTF">2026-09-28T05:02:21Z</dcterms:created>
  <dcterms:modified xsi:type="dcterms:W3CDTF">2026-10-07T03:19:11Z</dcterms:modified>
</cp:coreProperties>
</file>